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9" r:id="rId4"/>
    <p:sldId id="261" r:id="rId5"/>
    <p:sldId id="264" r:id="rId6"/>
    <p:sldId id="263" r:id="rId7"/>
    <p:sldId id="258" r:id="rId8"/>
    <p:sldId id="260" r:id="rId9"/>
    <p:sldId id="269" r:id="rId10"/>
    <p:sldId id="265" r:id="rId11"/>
    <p:sldId id="270" r:id="rId12"/>
    <p:sldId id="266" r:id="rId13"/>
    <p:sldId id="271" r:id="rId14"/>
    <p:sldId id="272" r:id="rId15"/>
    <p:sldId id="273" r:id="rId16"/>
    <p:sldId id="275" r:id="rId17"/>
    <p:sldId id="276" r:id="rId18"/>
    <p:sldId id="277" r:id="rId19"/>
    <p:sldId id="268" r:id="rId20"/>
    <p:sldId id="274" r:id="rId21"/>
    <p:sldId id="279" r:id="rId22"/>
    <p:sldId id="262" r:id="rId23"/>
    <p:sldId id="280" r:id="rId24"/>
    <p:sldId id="281" r:id="rId25"/>
    <p:sldId id="282" r:id="rId26"/>
    <p:sldId id="283" r:id="rId27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24"/>
    <p:restoredTop sz="85887"/>
  </p:normalViewPr>
  <p:slideViewPr>
    <p:cSldViewPr snapToGrid="0" snapToObjects="1">
      <p:cViewPr>
        <p:scale>
          <a:sx n="75" d="100"/>
          <a:sy n="75" d="100"/>
        </p:scale>
        <p:origin x="1109" y="19"/>
      </p:cViewPr>
      <p:guideLst/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</p:sldLst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8.xml"/><Relationship Id="rId13" Type="http://schemas.openxmlformats.org/officeDocument/2006/relationships/slide" Target="slides/slide20.xml"/><Relationship Id="rId3" Type="http://schemas.openxmlformats.org/officeDocument/2006/relationships/slide" Target="slides/slide3.xml"/><Relationship Id="rId7" Type="http://schemas.openxmlformats.org/officeDocument/2006/relationships/slide" Target="slides/slide7.xml"/><Relationship Id="rId12" Type="http://schemas.openxmlformats.org/officeDocument/2006/relationships/slide" Target="slides/slide19.xml"/><Relationship Id="rId2" Type="http://schemas.openxmlformats.org/officeDocument/2006/relationships/slide" Target="slides/slide2.xml"/><Relationship Id="rId1" Type="http://schemas.openxmlformats.org/officeDocument/2006/relationships/slide" Target="slides/slide1.xml"/><Relationship Id="rId6" Type="http://schemas.openxmlformats.org/officeDocument/2006/relationships/slide" Target="slides/slide6.xml"/><Relationship Id="rId11" Type="http://schemas.openxmlformats.org/officeDocument/2006/relationships/slide" Target="slides/slide12.xml"/><Relationship Id="rId5" Type="http://schemas.openxmlformats.org/officeDocument/2006/relationships/slide" Target="slides/slide5.xml"/><Relationship Id="rId10" Type="http://schemas.openxmlformats.org/officeDocument/2006/relationships/slide" Target="slides/slide10.xml"/><Relationship Id="rId4" Type="http://schemas.openxmlformats.org/officeDocument/2006/relationships/slide" Target="slides/slide4.xml"/><Relationship Id="rId9" Type="http://schemas.openxmlformats.org/officeDocument/2006/relationships/slide" Target="slides/slide9.xml"/><Relationship Id="rId14" Type="http://schemas.openxmlformats.org/officeDocument/2006/relationships/slide" Target="slides/slide2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8A75CD-C156-CC49-8479-A2CD0A22449B}" type="datetimeFigureOut">
              <a:rPr lang="en-NL" smtClean="0"/>
              <a:t>02/22/2026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A27D61-9186-C94C-8A7B-80221CFF2278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030739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A27D61-9186-C94C-8A7B-80221CFF2278}" type="slidenum">
              <a:rPr lang="en-NL" smtClean="0"/>
              <a:t>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0518391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L" dirty="0"/>
              <a:t>What do you guys know about container logistics?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A27D61-9186-C94C-8A7B-80221CFF2278}" type="slidenum">
              <a:rPr lang="en-NL" smtClean="0"/>
              <a:t>2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6159186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L" dirty="0"/>
              <a:t>Typical round trip of a container.</a:t>
            </a:r>
          </a:p>
          <a:p>
            <a:r>
              <a:rPr lang="en-NL" dirty="0"/>
              <a:t>Omitting rail on purpose.</a:t>
            </a:r>
          </a:p>
          <a:p>
            <a:r>
              <a:rPr lang="en-NL" dirty="0"/>
              <a:t>Do a Google Maps zoom of terminal locations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9B0634-6345-C84E-8C05-9BF378BFD285}" type="slidenum">
              <a:rPr lang="en-NL" smtClean="0"/>
              <a:t>3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5644375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CEF64-F377-3ECE-715E-F01973884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6AF9D6-77E6-917C-C2DD-1066792849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446417-A6ED-6639-AC38-901C36C491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L" dirty="0"/>
              <a:t>Typical round trip of a container.</a:t>
            </a:r>
          </a:p>
          <a:p>
            <a:r>
              <a:rPr lang="en-NL" dirty="0"/>
              <a:t>Omitting rail on purpose.</a:t>
            </a:r>
          </a:p>
          <a:p>
            <a:r>
              <a:rPr lang="en-NL" dirty="0"/>
              <a:t>Do a Google Maps zoom of terminal locations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84AF13-8642-DEC5-0199-89FBABB9CE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9B0634-6345-C84E-8C05-9BF378BFD285}" type="slidenum">
              <a:rPr lang="en-NL" smtClean="0"/>
              <a:t>4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1440255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C29E2-D65A-709D-79D7-EF8177C4D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84604B-977E-D365-4488-9BEEC44902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D7E1B3-3846-AFEC-6105-EA39996138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DC6E5B-997E-408A-8761-C16BBD4785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9B0634-6345-C84E-8C05-9BF378BFD285}" type="slidenum">
              <a:rPr lang="en-NL" smtClean="0"/>
              <a:t>5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643599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D8AC9-7BBF-EA60-AA16-F5375A866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1F3B50-2987-EA01-D477-4449EC154E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C5CAB3-7E04-186F-234C-D1EF3C4497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L" dirty="0"/>
              <a:t>Note: Trucks pick up the slack!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816ADE-7C37-D6B1-5255-3A8E277534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A27D61-9186-C94C-8A7B-80221CFF2278}" type="slidenum">
              <a:rPr lang="en-NL" smtClean="0"/>
              <a:t>6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295667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L" dirty="0"/>
              <a:t>Fleet size:</a:t>
            </a:r>
          </a:p>
          <a:p>
            <a:r>
              <a:rPr lang="en-NL" dirty="0"/>
              <a:t>- 4 inland terminals</a:t>
            </a:r>
          </a:p>
          <a:p>
            <a:r>
              <a:rPr lang="en-NL" dirty="0"/>
              <a:t>- 9 barges</a:t>
            </a:r>
          </a:p>
          <a:p>
            <a:r>
              <a:rPr lang="en-NL" dirty="0"/>
              <a:t>- 100 trucks</a:t>
            </a:r>
          </a:p>
          <a:p>
            <a:br>
              <a:rPr lang="en-GB" dirty="0"/>
            </a:br>
            <a:r>
              <a:rPr lang="en-GB" dirty="0"/>
              <a:t>S</a:t>
            </a:r>
            <a:r>
              <a:rPr lang="en-NL" dirty="0"/>
              <a:t>erving 10+ terminals in Rotterdam and Antwerp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A27D61-9186-C94C-8A7B-80221CFF2278}" type="slidenum">
              <a:rPr lang="en-NL" smtClean="0"/>
              <a:t>7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7507931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2FB3C-9032-8BAF-23B1-C0EE358B6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E0607E-A74D-CBBC-FA99-2C5C9CD052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D5921A-E755-64A0-BD94-251AA49455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NL" dirty="0"/>
              <a:t>Van Berkel runs on a legacy ERP system that does not really do a good job at supporting their operational processes.</a:t>
            </a:r>
          </a:p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3FBCDA-297A-B505-01F9-0D90AC6DCA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A27D61-9186-C94C-8A7B-80221CFF2278}" type="slidenum">
              <a:rPr lang="en-NL" smtClean="0"/>
              <a:t>8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0141334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70DEA-990C-8B8D-72ED-CD8A9CBE5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014FF5-F428-B5DF-4D14-ABC07A7742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83A0D4-12D6-8AF0-2A69-4DE9952512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0F96F2-A87F-C102-0558-48A4D09E11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A27D61-9186-C94C-8A7B-80221CFF2278}" type="slidenum">
              <a:rPr lang="en-NL" smtClean="0"/>
              <a:t>10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633549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A27D61-9186-C94C-8A7B-80221CFF2278}" type="slidenum">
              <a:rPr lang="en-NL" smtClean="0"/>
              <a:t>11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4840792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08A89-4ADD-C2AA-B590-965F4580F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F809BE-27AD-B19D-4502-6BF9A9990D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26761F-13C5-1EDA-7776-4F7A3B1B80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5910D5-E14C-C741-1331-124EE3B39C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A27D61-9186-C94C-8A7B-80221CFF2278}" type="slidenum">
              <a:rPr lang="en-NL" smtClean="0"/>
              <a:t>12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2322691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A27D61-9186-C94C-8A7B-80221CFF2278}" type="slidenum">
              <a:rPr lang="en-NL" smtClean="0"/>
              <a:t>13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7297716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27710-6100-AF8F-9AF9-C9A99A2BB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CB0F21-2400-352C-484E-8382641F6F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6F97C4-3D6E-41FA-67C6-80B759C063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L" dirty="0"/>
              <a:t>So the planners came up with this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8CD93D-4E60-B374-7343-ECC038F2E1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A27D61-9186-C94C-8A7B-80221CFF2278}" type="slidenum">
              <a:rPr lang="en-NL" smtClean="0"/>
              <a:t>14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2670609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L" dirty="0"/>
              <a:t>None of it is automated</a:t>
            </a:r>
          </a:p>
          <a:p>
            <a:r>
              <a:rPr lang="en-NL" dirty="0"/>
              <a:t>Error prone</a:t>
            </a:r>
          </a:p>
          <a:p>
            <a:r>
              <a:rPr lang="en-NL" dirty="0"/>
              <a:t>Logistics is dynamic!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A27D61-9186-C94C-8A7B-80221CFF2278}" type="slidenum">
              <a:rPr lang="en-NL" smtClean="0"/>
              <a:t>15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1941286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E9060-3B62-FCC0-C448-87C7B9C12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86F732-C55A-5634-3F36-8B2F7FE42B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07953C-C6C5-F978-8741-E0B8BE3753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FADFBF-2E49-173E-73A0-76E7213185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A27D61-9186-C94C-8A7B-80221CFF2278}" type="slidenum">
              <a:rPr lang="en-NL" smtClean="0"/>
              <a:t>16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46248304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D9A7F-69D8-4E34-8A68-129A01D27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C33A38-85F3-E09F-C278-DEF69FA7BC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F5CABD-5604-0AEB-4B08-0D477C117F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67A326-4B08-AB59-18D6-BB863657AB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A27D61-9186-C94C-8A7B-80221CFF2278}" type="slidenum">
              <a:rPr lang="en-NL" smtClean="0"/>
              <a:t>17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8923408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D0F72-6ED0-175C-7077-B9FEB64D7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0D7A0E-CDCF-1522-CAE9-C3F6A0B431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B33837-1FCC-64F7-DBF0-5573BF308C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03FD3F-F49A-49EB-BA7E-A82112D8A7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A27D61-9186-C94C-8A7B-80221CFF2278}" type="slidenum">
              <a:rPr lang="en-NL" smtClean="0"/>
              <a:t>18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2783038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A27D61-9186-C94C-8A7B-80221CFF2278}" type="slidenum">
              <a:rPr lang="en-NL" smtClean="0"/>
              <a:t>19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44998193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04DE6-E0C0-6D1A-1416-18A51C339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C2139C-45BA-761D-7FCE-4421398F0F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621D8E-F6BD-7912-1AC2-B733C1E8BB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EA4432-943F-8E06-2741-545D64625C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A27D61-9186-C94C-8A7B-80221CFF2278}" type="slidenum">
              <a:rPr lang="en-NL" smtClean="0"/>
              <a:t>20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55893304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5D8D0-3EF4-FE10-680C-C42C10576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340621-0293-CA5F-D8D2-A28CD3952F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B77E38-0B9A-9958-5259-B621514B36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CA2DBA-364D-53B7-5D33-E8903A6B8E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A27D61-9186-C94C-8A7B-80221CFF2278}" type="slidenum">
              <a:rPr lang="en-NL" smtClean="0"/>
              <a:t>21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0514106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67A5C-06DD-EA13-5885-1D2178E81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7E72B8-A393-A298-FA95-ED76AC2118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DE9C70-34B7-7181-F87A-9D17F3995E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52266F-E8CD-91A7-4569-AF16C2708B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A27D61-9186-C94C-8A7B-80221CFF2278}" type="slidenum">
              <a:rPr lang="en-NL" smtClean="0"/>
              <a:t>22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9980484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255B9-0254-5CBF-FC03-D69D1BCCD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C51F28-DED9-055A-BF7D-342B829C09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7FAFA1-70D7-5568-AACD-9D879E40FF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E2C34C-4036-4BE7-8587-61D8FDD355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A27D61-9186-C94C-8A7B-80221CFF2278}" type="slidenum">
              <a:rPr lang="en-NL" smtClean="0"/>
              <a:t>23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68686651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70521-2D52-7F6A-455C-E5CF49B96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E7D096-77CD-6B44-F56A-FCFB9C390A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E10DD9-5387-9E28-8672-83A2C9ECE8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BCDC44-1798-BD09-F174-877A77FC3B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A27D61-9186-C94C-8A7B-80221CFF2278}" type="slidenum">
              <a:rPr lang="en-NL" smtClean="0"/>
              <a:t>24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7515749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NL" i="1" dirty="0"/>
              <a:t>Convert raw data to something more sensible?</a:t>
            </a:r>
          </a:p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A27D61-9186-C94C-8A7B-80221CFF2278}" type="slidenum">
              <a:rPr lang="en-NL" smtClean="0"/>
              <a:t>26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6811078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FFED5-EDDC-4748-A946-3D9575182C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2D59F5-03E6-054D-B268-B250737DA0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7E82CF-A68C-A540-B22B-5BE577952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9FAA0-E0FE-1D46-9C17-A91E0B6A444D}" type="datetimeFigureOut">
              <a:rPr lang="en-NL" smtClean="0"/>
              <a:t>02/22/2026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DB213F-4E2C-B94F-960A-E2E4F3F34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E20E35-9BF6-7D43-B323-178427166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99D55-44E0-4645-826B-EDA98C06BC0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710619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FFAA8-4F30-1244-967C-8AF9A0043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2041D6-B67D-0941-8C83-BC314538E6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6C0553-A73F-E645-A365-167A84AAB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9FAA0-E0FE-1D46-9C17-A91E0B6A444D}" type="datetimeFigureOut">
              <a:rPr lang="en-NL" smtClean="0"/>
              <a:t>02/22/2026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39A623-D711-824A-9812-925F0B742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1D7C7C-B821-4D40-8D6D-21ABDDC91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99D55-44E0-4645-826B-EDA98C06BC0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1764498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34CA1-2CC5-4A40-A395-2F7CE296E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14BBE1-CED7-F547-9C5C-9B6B0276A2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74B941-4D61-334E-9573-832E27F74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9FAA0-E0FE-1D46-9C17-A91E0B6A444D}" type="datetimeFigureOut">
              <a:rPr lang="en-NL" smtClean="0"/>
              <a:t>02/22/2026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4B03EB-5F81-844D-92ED-9D6BCF205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A46E25-4C0B-6E4B-807F-69B5A374A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99D55-44E0-4645-826B-EDA98C06BC0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020766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5B4DC-5891-1B40-A469-F323F30EC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019B97-09F9-A446-9C27-2BF905D3D2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41DD02-2CA8-D541-9E54-0914B278D4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12196F-155F-314E-828F-9CF267E14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9FAA0-E0FE-1D46-9C17-A91E0B6A444D}" type="datetimeFigureOut">
              <a:rPr lang="en-NL" smtClean="0"/>
              <a:t>02/22/2026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3EA866-A8D8-704E-8608-79CC6822A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5EC320-891E-2847-92A8-95C0777E4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99D55-44E0-4645-826B-EDA98C06BC0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43930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CEA5A-D058-8140-8C94-AB7C017BC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0C1C58-6923-5448-BEE0-ECAE827913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639E-3367-364B-A82F-5534DE72CF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A17DDA-50C6-BA41-8A14-2E288F04CC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B36D6D-24C7-1546-9BBF-268C64D84A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7E6DCD-F2DB-F14F-969E-698FA2F42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9FAA0-E0FE-1D46-9C17-A91E0B6A444D}" type="datetimeFigureOut">
              <a:rPr lang="en-NL" smtClean="0"/>
              <a:t>02/22/2026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7ACBA2-3A36-7A4C-A5AF-814D18763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128F74-4D7C-FD4F-B5C4-3B88BBAAC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99D55-44E0-4645-826B-EDA98C06BC0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8929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A2175-BBCF-684F-B1DF-5227FA9A6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491784-4EE5-824C-BDED-714313C54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9FAA0-E0FE-1D46-9C17-A91E0B6A444D}" type="datetimeFigureOut">
              <a:rPr lang="en-NL" smtClean="0"/>
              <a:t>02/22/2026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9D4006-7133-4E4F-92EF-4EB5C94E0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07FE0D-ECDC-6C4A-948B-E2AD5707E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99D55-44E0-4645-826B-EDA98C06BC0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132588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889C81-176D-1D48-9CEE-C51613400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9FAA0-E0FE-1D46-9C17-A91E0B6A444D}" type="datetimeFigureOut">
              <a:rPr lang="en-NL" smtClean="0"/>
              <a:t>02/22/2026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2156A0-E53D-9549-AA5E-F40500D21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FBE7FF-8063-4140-A339-B763CBB6C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99D55-44E0-4645-826B-EDA98C06BC0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643941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923B1-251C-8D46-89B7-5A40FF0ED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C01833-26D9-AD47-A583-0C6A619EDC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314F01-CC56-0D4D-9660-538D5330AD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BF8350-A5A0-154F-8D63-97ED21E96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9FAA0-E0FE-1D46-9C17-A91E0B6A444D}" type="datetimeFigureOut">
              <a:rPr lang="en-NL" smtClean="0"/>
              <a:t>02/22/2026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6D256E-66E6-3E47-AEC9-623C10491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0902F1-43AC-A340-9D03-DAC30777A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99D55-44E0-4645-826B-EDA98C06BC0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14657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C6DD8-AB1E-4E40-A562-BC3FE20AD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F9A737-78AE-6543-B255-048177EA7A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BC758F-D231-4A40-8090-FDCC55DB38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2C5AFC-FD2C-E24A-8F66-AF40EC75D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9FAA0-E0FE-1D46-9C17-A91E0B6A444D}" type="datetimeFigureOut">
              <a:rPr lang="en-NL" smtClean="0"/>
              <a:t>02/22/2026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D917C1-B048-AA46-9CB3-5AFF3D3F8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29B1BF-A2F6-6F41-A312-7616D8F61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99D55-44E0-4645-826B-EDA98C06BC0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553436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DEE74-D016-6F42-BBD4-870FDA331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ED28BF-05EE-5143-AB03-99B45834F4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F9207C-5669-1B45-AB6D-8208D8EA4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9FAA0-E0FE-1D46-9C17-A91E0B6A444D}" type="datetimeFigureOut">
              <a:rPr lang="en-NL" smtClean="0"/>
              <a:t>02/22/2026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E19F81-F01C-984A-ACDC-17349A6DC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C061D-15B8-9548-AE49-1F8D59E71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99D55-44E0-4645-826B-EDA98C06BC0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796486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EFCFCA-44F4-0A44-AF1B-FD141D379F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E3A1DE-14CB-7242-AA6D-6FD499DFD5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10FEDE-D054-8242-AAD9-C6CE11769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9FAA0-E0FE-1D46-9C17-A91E0B6A444D}" type="datetimeFigureOut">
              <a:rPr lang="en-NL" smtClean="0"/>
              <a:t>02/22/2026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04C0CC-4FEF-F941-91A4-F36499900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96BE00-59D6-374F-862E-774CF8D87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99D55-44E0-4645-826B-EDA98C06BC0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721962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26CF6D-8B68-1A46-9FC1-821D31D9B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21154D-F5EB-D04E-87D0-4459C31665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300D15-FA40-D642-982F-B97040696A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9FAA0-E0FE-1D46-9C17-A91E0B6A444D}" type="datetimeFigureOut">
              <a:rPr lang="en-NL" smtClean="0"/>
              <a:t>02/22/2026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AAB09A-EE06-434D-8181-1ABC86167D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343E4D-E5C2-1647-A5F7-F3DE692482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499D55-44E0-4645-826B-EDA98C06BC0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66625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2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2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2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8537B233-9CDD-4A90-AABB-A8963DEE4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CE2DFA-EB7D-CE45-B48B-731E957AB1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818457"/>
            <a:ext cx="3322317" cy="2975876"/>
          </a:xfrm>
        </p:spPr>
        <p:txBody>
          <a:bodyPr anchor="b">
            <a:normAutofit/>
          </a:bodyPr>
          <a:lstStyle/>
          <a:p>
            <a:pPr algn="l"/>
            <a:r>
              <a:rPr lang="en-NL" sz="4400" dirty="0"/>
              <a:t>Squid</a:t>
            </a:r>
            <a:br>
              <a:rPr lang="en-NL" sz="4400" dirty="0"/>
            </a:br>
            <a:r>
              <a:rPr lang="en-NL" sz="2000" dirty="0"/>
              <a:t>Software Systems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DBCA41-BECE-4842-81FA-F27664DE42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3948158"/>
            <a:ext cx="3322316" cy="1692066"/>
          </a:xfrm>
        </p:spPr>
        <p:txBody>
          <a:bodyPr anchor="t">
            <a:normAutofit/>
          </a:bodyPr>
          <a:lstStyle/>
          <a:p>
            <a:pPr algn="l"/>
            <a:r>
              <a:rPr lang="en-NL" sz="2000" dirty="0"/>
              <a:t>Rotterdam, 19 February 2026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40575EE-C594-4566-BC00-663004E52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63566" y="1417320"/>
            <a:ext cx="0" cy="402336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Graphic 4">
            <a:extLst>
              <a:ext uri="{FF2B5EF4-FFF2-40B4-BE49-F238E27FC236}">
                <a16:creationId xmlns:a16="http://schemas.microsoft.com/office/drawing/2014/main" id="{F20F8ED5-A083-6A4E-B1E4-5CA7C43745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00868" y="566916"/>
            <a:ext cx="5724168" cy="5724168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6464050C-B36E-7749-A34A-35855E1434A1}"/>
              </a:ext>
            </a:extLst>
          </p:cNvPr>
          <p:cNvSpPr txBox="1">
            <a:spLocks/>
          </p:cNvSpPr>
          <p:nvPr/>
        </p:nvSpPr>
        <p:spPr>
          <a:xfrm>
            <a:off x="5700867" y="3657600"/>
            <a:ext cx="3322317" cy="12954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dirty="0"/>
              <a:t>Barge Brain</a:t>
            </a:r>
          </a:p>
          <a:p>
            <a:pPr algn="l"/>
            <a:r>
              <a:rPr lang="en-US" sz="3600" dirty="0"/>
              <a:t>Introduction</a:t>
            </a:r>
            <a:endParaRPr lang="en-NL" sz="4400" dirty="0"/>
          </a:p>
        </p:txBody>
      </p:sp>
    </p:spTree>
    <p:extLst>
      <p:ext uri="{BB962C8B-B14F-4D97-AF65-F5344CB8AC3E}">
        <p14:creationId xmlns:p14="http://schemas.microsoft.com/office/powerpoint/2010/main" val="17164377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5" descr="A large container ship in a port&#10;&#10;AI-generated content may be incorrect.">
            <a:extLst>
              <a:ext uri="{FF2B5EF4-FFF2-40B4-BE49-F238E27FC236}">
                <a16:creationId xmlns:a16="http://schemas.microsoft.com/office/drawing/2014/main" id="{BEA4544B-FFA1-527A-CCA8-151D728823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26565"/>
            <a:ext cx="12192000" cy="7847724"/>
          </a:xfrm>
          <a:prstGeom prst="rect">
            <a:avLst/>
          </a:prstGeom>
        </p:spPr>
      </p:pic>
      <p:pic>
        <p:nvPicPr>
          <p:cNvPr id="10" name="Content Placeholder 4">
            <a:extLst>
              <a:ext uri="{FF2B5EF4-FFF2-40B4-BE49-F238E27FC236}">
                <a16:creationId xmlns:a16="http://schemas.microsoft.com/office/drawing/2014/main" id="{E469C586-6863-0149-97D6-D7FFC5347E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7713" y="5202124"/>
            <a:ext cx="1949677" cy="1949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7496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4">
            <a:extLst>
              <a:ext uri="{FF2B5EF4-FFF2-40B4-BE49-F238E27FC236}">
                <a16:creationId xmlns:a16="http://schemas.microsoft.com/office/drawing/2014/main" id="{E469C586-6863-0149-97D6-D7FFC5347E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7713" y="5202124"/>
            <a:ext cx="1949677" cy="194967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60DB140-B301-654B-A8B3-620688E7F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Inland container logistics</a:t>
            </a:r>
          </a:p>
        </p:txBody>
      </p:sp>
      <p:pic>
        <p:nvPicPr>
          <p:cNvPr id="11" name="Picture 10" descr="A diagram of export and export&#10;&#10;AI-generated content may be incorrect.">
            <a:extLst>
              <a:ext uri="{FF2B5EF4-FFF2-40B4-BE49-F238E27FC236}">
                <a16:creationId xmlns:a16="http://schemas.microsoft.com/office/drawing/2014/main" id="{F532DE78-0B12-2C3C-42B2-E263125CC5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607" y="1867841"/>
            <a:ext cx="10155867" cy="3161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5527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F221D-EB0B-3E3F-F6E1-F5B6556E7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4">
            <a:extLst>
              <a:ext uri="{FF2B5EF4-FFF2-40B4-BE49-F238E27FC236}">
                <a16:creationId xmlns:a16="http://schemas.microsoft.com/office/drawing/2014/main" id="{23FAA94B-054A-EFCA-F69C-9C98A1AE15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7713" y="5202124"/>
            <a:ext cx="1949677" cy="194967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2D27B8-761E-3F84-F49A-BC79751E4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Inland container logistics</a:t>
            </a:r>
          </a:p>
        </p:txBody>
      </p:sp>
      <p:pic>
        <p:nvPicPr>
          <p:cNvPr id="11" name="Picture 10" descr="A diagram of export and export&#10;&#10;AI-generated content may be incorrect.">
            <a:extLst>
              <a:ext uri="{FF2B5EF4-FFF2-40B4-BE49-F238E27FC236}">
                <a16:creationId xmlns:a16="http://schemas.microsoft.com/office/drawing/2014/main" id="{F92F1BFC-9C02-A8B1-54F1-687B464091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607" y="1867841"/>
            <a:ext cx="10155867" cy="316135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92DA889-E743-299E-B90B-89B6849E9A37}"/>
              </a:ext>
            </a:extLst>
          </p:cNvPr>
          <p:cNvSpPr txBox="1"/>
          <p:nvPr/>
        </p:nvSpPr>
        <p:spPr>
          <a:xfrm>
            <a:off x="838200" y="1961803"/>
            <a:ext cx="1629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P</a:t>
            </a:r>
            <a:r>
              <a:rPr lang="en-NL" dirty="0">
                <a:solidFill>
                  <a:srgbClr val="FF0000"/>
                </a:solidFill>
              </a:rPr>
              <a:t>ickup window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49D05C-C63C-1951-9275-C9AA5D13A50D}"/>
              </a:ext>
            </a:extLst>
          </p:cNvPr>
          <p:cNvSpPr txBox="1"/>
          <p:nvPr/>
        </p:nvSpPr>
        <p:spPr>
          <a:xfrm>
            <a:off x="896215" y="4694904"/>
            <a:ext cx="1629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Cargo</a:t>
            </a:r>
            <a:r>
              <a:rPr lang="en-NL" dirty="0">
                <a:solidFill>
                  <a:srgbClr val="FF0000"/>
                </a:solidFill>
              </a:rPr>
              <a:t> window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F4FE7F-AA38-FB6B-D774-AF80CF6FADB9}"/>
              </a:ext>
            </a:extLst>
          </p:cNvPr>
          <p:cNvSpPr txBox="1"/>
          <p:nvPr/>
        </p:nvSpPr>
        <p:spPr>
          <a:xfrm>
            <a:off x="9469429" y="1961803"/>
            <a:ext cx="1884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Delivery datetime</a:t>
            </a:r>
            <a:endParaRPr lang="en-NL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73366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657D3-3AFB-168F-A770-5B21E3314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4">
            <a:extLst>
              <a:ext uri="{FF2B5EF4-FFF2-40B4-BE49-F238E27FC236}">
                <a16:creationId xmlns:a16="http://schemas.microsoft.com/office/drawing/2014/main" id="{9927F1C7-36F2-956A-1F1F-7D49DEA35E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7713" y="5202124"/>
            <a:ext cx="1949677" cy="194967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343371B-BEA2-0472-0FCB-670517FF7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Planning puzzle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70ED1B-4E4A-90EC-BE47-F8988E16DF6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NL" dirty="0"/>
              <a:t>Capacity:</a:t>
            </a:r>
          </a:p>
          <a:p>
            <a:r>
              <a:rPr lang="en-NL" dirty="0"/>
              <a:t>Barges</a:t>
            </a:r>
          </a:p>
          <a:p>
            <a:pPr lvl="1"/>
            <a:r>
              <a:rPr lang="en-NL" dirty="0"/>
              <a:t>Cargo capacity (TEU, weight, …</a:t>
            </a:r>
          </a:p>
          <a:p>
            <a:pPr lvl="1"/>
            <a:r>
              <a:rPr lang="en-NL" dirty="0"/>
              <a:t>Existing schedule</a:t>
            </a:r>
          </a:p>
          <a:p>
            <a:pPr lvl="1"/>
            <a:r>
              <a:rPr lang="en-NL" dirty="0"/>
              <a:t>Reserved slots</a:t>
            </a:r>
          </a:p>
          <a:p>
            <a:r>
              <a:rPr lang="en-NL" dirty="0"/>
              <a:t>Terminals</a:t>
            </a:r>
          </a:p>
          <a:p>
            <a:pPr lvl="1"/>
            <a:r>
              <a:rPr lang="en-NL" dirty="0"/>
              <a:t>Handling capacity</a:t>
            </a:r>
          </a:p>
          <a:p>
            <a:pPr lvl="1"/>
            <a:r>
              <a:rPr lang="en-NL" dirty="0"/>
              <a:t>Stacking capacity</a:t>
            </a:r>
          </a:p>
          <a:p>
            <a:r>
              <a:rPr lang="en-NL" dirty="0"/>
              <a:t>Waterways:</a:t>
            </a:r>
          </a:p>
          <a:p>
            <a:pPr lvl="1"/>
            <a:r>
              <a:rPr lang="en-NL" dirty="0"/>
              <a:t>Bridges</a:t>
            </a:r>
          </a:p>
          <a:p>
            <a:pPr lvl="1"/>
            <a:r>
              <a:rPr lang="en-NL" dirty="0"/>
              <a:t>Obstructions</a:t>
            </a:r>
          </a:p>
          <a:p>
            <a:pPr lvl="1"/>
            <a:r>
              <a:rPr lang="en-NL" dirty="0"/>
              <a:t>Currents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C74233E-59EB-D4D4-D9D2-C4FFE320962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NL" dirty="0"/>
              <a:t>Demand:</a:t>
            </a:r>
          </a:p>
          <a:p>
            <a:r>
              <a:rPr lang="en-US" dirty="0"/>
              <a:t>Containers:</a:t>
            </a:r>
          </a:p>
          <a:p>
            <a:pPr lvl="1"/>
            <a:r>
              <a:rPr lang="en-US" dirty="0"/>
              <a:t>Origin</a:t>
            </a:r>
          </a:p>
          <a:p>
            <a:pPr lvl="1"/>
            <a:r>
              <a:rPr lang="en-US" dirty="0"/>
              <a:t>Destination</a:t>
            </a:r>
          </a:p>
          <a:p>
            <a:pPr lvl="1"/>
            <a:r>
              <a:rPr lang="en-US" dirty="0"/>
              <a:t>Size</a:t>
            </a:r>
          </a:p>
          <a:p>
            <a:pPr lvl="1"/>
            <a:r>
              <a:rPr lang="en-US" dirty="0"/>
              <a:t>Weight</a:t>
            </a:r>
          </a:p>
          <a:p>
            <a:pPr lvl="1"/>
            <a:r>
              <a:rPr lang="en-US" dirty="0"/>
              <a:t>Hazmat</a:t>
            </a:r>
          </a:p>
          <a:p>
            <a:pPr lvl="1"/>
            <a:r>
              <a:rPr lang="en-US" dirty="0"/>
              <a:t>Reefer</a:t>
            </a:r>
          </a:p>
          <a:p>
            <a:pPr lvl="1"/>
            <a:r>
              <a:rPr lang="en-US" dirty="0"/>
              <a:t>Pickup window</a:t>
            </a:r>
          </a:p>
          <a:p>
            <a:pPr lvl="1"/>
            <a:r>
              <a:rPr lang="en-US" dirty="0"/>
              <a:t>Delivery datetime</a:t>
            </a:r>
          </a:p>
          <a:p>
            <a:pPr lvl="1"/>
            <a:r>
              <a:rPr lang="en-US" dirty="0"/>
              <a:t>Cargo window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285275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E8323-CE7E-EEF6-9341-B5DAA7DB4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4">
            <a:extLst>
              <a:ext uri="{FF2B5EF4-FFF2-40B4-BE49-F238E27FC236}">
                <a16:creationId xmlns:a16="http://schemas.microsoft.com/office/drawing/2014/main" id="{8C90BE3A-AD9B-EA7C-6922-340AD1BAC0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7713" y="5202124"/>
            <a:ext cx="1949677" cy="194967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C9D05FB-875B-02F7-CE9E-D8CB238AC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What’s a good planning?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E7377A1-0DCB-F435-642F-0BC155B387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NL" dirty="0"/>
              <a:t>Optimise over multiple factors:</a:t>
            </a:r>
          </a:p>
          <a:p>
            <a:r>
              <a:rPr lang="en-NL" dirty="0"/>
              <a:t>Maximise transport capacity utilisation</a:t>
            </a:r>
          </a:p>
          <a:p>
            <a:r>
              <a:rPr lang="en-NL" dirty="0"/>
              <a:t>Maximise on-time performance</a:t>
            </a:r>
          </a:p>
          <a:p>
            <a:r>
              <a:rPr lang="en-NL" dirty="0"/>
              <a:t>Minimise cost</a:t>
            </a:r>
          </a:p>
          <a:p>
            <a:r>
              <a:rPr lang="en-NL" i="1" dirty="0"/>
              <a:t>Minimise emissions</a:t>
            </a:r>
          </a:p>
          <a:p>
            <a:r>
              <a:rPr lang="en-NL" i="1" dirty="0"/>
              <a:t>Maximise shipper satisfaction</a:t>
            </a:r>
          </a:p>
          <a:p>
            <a:pPr marL="0" indent="0">
              <a:buNone/>
            </a:pPr>
            <a:endParaRPr lang="en-NL" dirty="0"/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0764514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617BE-DEBA-EED8-7759-497952F57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847604D5-6256-D349-C6E1-215FCA13FC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-118925"/>
            <a:ext cx="12192000" cy="6976925"/>
          </a:xfrm>
          <a:prstGeom prst="rect">
            <a:avLst/>
          </a:prstGeom>
        </p:spPr>
      </p:pic>
      <p:pic>
        <p:nvPicPr>
          <p:cNvPr id="10" name="Content Placeholder 4">
            <a:extLst>
              <a:ext uri="{FF2B5EF4-FFF2-40B4-BE49-F238E27FC236}">
                <a16:creationId xmlns:a16="http://schemas.microsoft.com/office/drawing/2014/main" id="{781A31B9-4248-ADBC-1AFD-7844ADE104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7713" y="5202124"/>
            <a:ext cx="1949677" cy="194967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AE83EC9-1FF1-E9E9-7508-17C84104F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Network of Van Berkel Logistics</a:t>
            </a:r>
          </a:p>
        </p:txBody>
      </p:sp>
    </p:spTree>
    <p:extLst>
      <p:ext uri="{BB962C8B-B14F-4D97-AF65-F5344CB8AC3E}">
        <p14:creationId xmlns:p14="http://schemas.microsoft.com/office/powerpoint/2010/main" val="22465406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12354-85E7-F33F-4ACF-D25F4DFBA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4">
            <a:extLst>
              <a:ext uri="{FF2B5EF4-FFF2-40B4-BE49-F238E27FC236}">
                <a16:creationId xmlns:a16="http://schemas.microsoft.com/office/drawing/2014/main" id="{7ADCDD15-B8D8-E6FC-C9B8-E48AFA9ABA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7713" y="5202124"/>
            <a:ext cx="1949677" cy="194967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72BAEC9-F30C-F9F4-9C0E-52A72EA81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What’s our problem?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7076DA4-B63F-6C64-7DF6-3CCB12DAF6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NL" sz="2800" dirty="0"/>
              <a:t>Hard to obtain the current status of operations</a:t>
            </a:r>
          </a:p>
          <a:p>
            <a:pPr lvl="1"/>
            <a:r>
              <a:rPr lang="en-NL" dirty="0"/>
              <a:t>Lack of insight of what barge goes where</a:t>
            </a:r>
          </a:p>
          <a:p>
            <a:pPr lvl="1"/>
            <a:r>
              <a:rPr lang="en-NL" dirty="0"/>
              <a:t>Hard to find out what the effects are of a delay</a:t>
            </a:r>
          </a:p>
          <a:p>
            <a:pPr lvl="1"/>
            <a:r>
              <a:rPr lang="en-NL" dirty="0"/>
              <a:t>Hard to detect when things are (about to go) wrong</a:t>
            </a:r>
          </a:p>
          <a:p>
            <a:pPr marL="457200" lvl="1" indent="0">
              <a:buNone/>
            </a:pPr>
            <a:endParaRPr lang="en-NL" dirty="0"/>
          </a:p>
          <a:p>
            <a:pPr marL="514350" indent="-514350">
              <a:buAutoNum type="arabicPeriod"/>
            </a:pPr>
            <a:r>
              <a:rPr lang="en-NL" sz="2800" dirty="0"/>
              <a:t>Convoluted planning process:</a:t>
            </a:r>
          </a:p>
          <a:p>
            <a:pPr lvl="1"/>
            <a:r>
              <a:rPr lang="en-NL" dirty="0"/>
              <a:t>Decisions are based on filtering containers</a:t>
            </a:r>
          </a:p>
          <a:p>
            <a:pPr lvl="1"/>
            <a:r>
              <a:rPr lang="en-NL" dirty="0"/>
              <a:t>No easy insight in capacity utilisation between terminals</a:t>
            </a:r>
          </a:p>
          <a:p>
            <a:pPr lvl="1"/>
            <a:r>
              <a:rPr lang="en-NL" dirty="0"/>
              <a:t>No easy insight in containers that are at the wrong terminals</a:t>
            </a:r>
          </a:p>
          <a:p>
            <a:pPr lvl="1"/>
            <a:r>
              <a:rPr lang="en-NL" dirty="0"/>
              <a:t>Difficult to work with transfers over a hub</a:t>
            </a:r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5159245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E4ED9-9F1A-F267-5C2F-A88F3FB69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Terminology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0438312-9A9E-1EE0-EB14-AE6408F234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6303357"/>
              </p:ext>
            </p:extLst>
          </p:nvPr>
        </p:nvGraphicFramePr>
        <p:xfrm>
          <a:off x="838200" y="1825625"/>
          <a:ext cx="9603833" cy="2021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98864">
                  <a:extLst>
                    <a:ext uri="{9D8B030D-6E8A-4147-A177-3AD203B41FA5}">
                      <a16:colId xmlns:a16="http://schemas.microsoft.com/office/drawing/2014/main" val="640643895"/>
                    </a:ext>
                  </a:extLst>
                </a:gridCol>
                <a:gridCol w="7804969">
                  <a:extLst>
                    <a:ext uri="{9D8B030D-6E8A-4147-A177-3AD203B41FA5}">
                      <a16:colId xmlns:a16="http://schemas.microsoft.com/office/drawing/2014/main" val="16313540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NL" b="1" dirty="0"/>
                        <a:t>Rotation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L" dirty="0"/>
                        <a:t>Incoming + outgoing voyage. Used to communicate estimated arrival and departure times to the port authority.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37217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NL" b="1" dirty="0"/>
                        <a:t>Voyage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L" dirty="0"/>
                        <a:t>Either incoming or outgoing. Defined as Rotterdam to a single inland terminal (incoming) and vice versa (outgoing)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797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NL" b="1" dirty="0"/>
                        <a:t>Voyage elements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L" dirty="0"/>
                        <a:t>Other inland terminals you may visit during your voyage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7043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NL" b="1" dirty="0"/>
                        <a:t>Barge visits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L" dirty="0"/>
                        <a:t>Terminals at the port you intend to visit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5018787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2E5DDB9-C1D9-35E4-C3A3-1C4E2D9581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6362674"/>
              </p:ext>
            </p:extLst>
          </p:nvPr>
        </p:nvGraphicFramePr>
        <p:xfrm>
          <a:off x="838200" y="4658693"/>
          <a:ext cx="9603833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1815">
                  <a:extLst>
                    <a:ext uri="{9D8B030D-6E8A-4147-A177-3AD203B41FA5}">
                      <a16:colId xmlns:a16="http://schemas.microsoft.com/office/drawing/2014/main" val="640643895"/>
                    </a:ext>
                  </a:extLst>
                </a:gridCol>
                <a:gridCol w="1297003">
                  <a:extLst>
                    <a:ext uri="{9D8B030D-6E8A-4147-A177-3AD203B41FA5}">
                      <a16:colId xmlns:a16="http://schemas.microsoft.com/office/drawing/2014/main" val="1631354038"/>
                    </a:ext>
                  </a:extLst>
                </a:gridCol>
                <a:gridCol w="1297003">
                  <a:extLst>
                    <a:ext uri="{9D8B030D-6E8A-4147-A177-3AD203B41FA5}">
                      <a16:colId xmlns:a16="http://schemas.microsoft.com/office/drawing/2014/main" val="2060859508"/>
                    </a:ext>
                  </a:extLst>
                </a:gridCol>
                <a:gridCol w="1297003">
                  <a:extLst>
                    <a:ext uri="{9D8B030D-6E8A-4147-A177-3AD203B41FA5}">
                      <a16:colId xmlns:a16="http://schemas.microsoft.com/office/drawing/2014/main" val="4079543882"/>
                    </a:ext>
                  </a:extLst>
                </a:gridCol>
                <a:gridCol w="1297003">
                  <a:extLst>
                    <a:ext uri="{9D8B030D-6E8A-4147-A177-3AD203B41FA5}">
                      <a16:colId xmlns:a16="http://schemas.microsoft.com/office/drawing/2014/main" val="173217216"/>
                    </a:ext>
                  </a:extLst>
                </a:gridCol>
                <a:gridCol w="1297003">
                  <a:extLst>
                    <a:ext uri="{9D8B030D-6E8A-4147-A177-3AD203B41FA5}">
                      <a16:colId xmlns:a16="http://schemas.microsoft.com/office/drawing/2014/main" val="440301946"/>
                    </a:ext>
                  </a:extLst>
                </a:gridCol>
                <a:gridCol w="1297003">
                  <a:extLst>
                    <a:ext uri="{9D8B030D-6E8A-4147-A177-3AD203B41FA5}">
                      <a16:colId xmlns:a16="http://schemas.microsoft.com/office/drawing/2014/main" val="15588267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NL" b="1" dirty="0"/>
                        <a:t>Incoming voyage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L" dirty="0"/>
                        <a:t>RTM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L" dirty="0"/>
                        <a:t>TIEL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L" dirty="0"/>
                        <a:t>KAT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L" dirty="0"/>
                        <a:t>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37217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NL" b="1" dirty="0"/>
                        <a:t>Outgoing voyage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L" dirty="0"/>
                        <a:t>KAT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L" dirty="0"/>
                        <a:t>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L" dirty="0"/>
                        <a:t>TIEL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L" dirty="0"/>
                        <a:t>RTM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7974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35308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4E764-D2F8-181E-884D-3F0D7DBDD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E2594-8302-3365-EC61-D28C3D231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8005"/>
            <a:ext cx="10515600" cy="1325563"/>
          </a:xfrm>
        </p:spPr>
        <p:txBody>
          <a:bodyPr/>
          <a:lstStyle/>
          <a:p>
            <a:r>
              <a:rPr lang="en-NL" dirty="0"/>
              <a:t>Voyage list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5661426-DDCA-83FD-8FB8-D45FCE53F5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664" y="1513568"/>
            <a:ext cx="7772400" cy="4403732"/>
          </a:xfrm>
          <a:prstGeom prst="rect">
            <a:avLst/>
          </a:prstGeom>
        </p:spPr>
      </p:pic>
      <p:pic>
        <p:nvPicPr>
          <p:cNvPr id="10" name="Content Placeholder 4">
            <a:extLst>
              <a:ext uri="{FF2B5EF4-FFF2-40B4-BE49-F238E27FC236}">
                <a16:creationId xmlns:a16="http://schemas.microsoft.com/office/drawing/2014/main" id="{24D7B526-C5DF-DC39-5286-D7C266F3E0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7713" y="5202124"/>
            <a:ext cx="1949677" cy="1949677"/>
          </a:xfrm>
          <a:prstGeom prst="rect">
            <a:avLst/>
          </a:prstGeom>
        </p:spPr>
      </p:pic>
      <p:sp>
        <p:nvSpPr>
          <p:cNvPr id="6" name="Content Placeholder 8">
            <a:extLst>
              <a:ext uri="{FF2B5EF4-FFF2-40B4-BE49-F238E27FC236}">
                <a16:creationId xmlns:a16="http://schemas.microsoft.com/office/drawing/2014/main" id="{B5660C66-0D1D-8894-380B-2DB5C92C45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30266" y="1825625"/>
            <a:ext cx="2323534" cy="4351338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NL" dirty="0"/>
          </a:p>
          <a:p>
            <a:endParaRPr lang="en-NL" dirty="0"/>
          </a:p>
          <a:p>
            <a:endParaRPr lang="en-NL" dirty="0"/>
          </a:p>
          <a:p>
            <a:endParaRPr lang="en-NL" dirty="0"/>
          </a:p>
          <a:p>
            <a:pPr marL="0" indent="0">
              <a:buNone/>
            </a:pPr>
            <a:endParaRPr lang="en-NL" dirty="0"/>
          </a:p>
          <a:p>
            <a:pPr marL="0" indent="0">
              <a:buNone/>
            </a:pP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16106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694F6-0727-A4A2-B593-0E8538D80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FEE4D-10A0-5CC4-653F-F6909305B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8005"/>
            <a:ext cx="10515600" cy="1325563"/>
          </a:xfrm>
        </p:spPr>
        <p:txBody>
          <a:bodyPr/>
          <a:lstStyle/>
          <a:p>
            <a:r>
              <a:rPr lang="en-NL" dirty="0"/>
              <a:t>Voyage element list</a:t>
            </a:r>
          </a:p>
        </p:txBody>
      </p:sp>
      <p:pic>
        <p:nvPicPr>
          <p:cNvPr id="10" name="Content Placeholder 4">
            <a:extLst>
              <a:ext uri="{FF2B5EF4-FFF2-40B4-BE49-F238E27FC236}">
                <a16:creationId xmlns:a16="http://schemas.microsoft.com/office/drawing/2014/main" id="{F64A5A37-E04C-6BF8-1E56-5ACC44E8E5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7713" y="5202124"/>
            <a:ext cx="1949677" cy="1949677"/>
          </a:xfrm>
          <a:prstGeom prst="rect">
            <a:avLst/>
          </a:prstGeom>
        </p:spPr>
      </p:pic>
      <p:sp>
        <p:nvSpPr>
          <p:cNvPr id="6" name="Content Placeholder 8">
            <a:extLst>
              <a:ext uri="{FF2B5EF4-FFF2-40B4-BE49-F238E27FC236}">
                <a16:creationId xmlns:a16="http://schemas.microsoft.com/office/drawing/2014/main" id="{31A58257-5529-5EA3-7EE3-9CD3CE6A6B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30266" y="1825625"/>
            <a:ext cx="2323534" cy="4351338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NL" dirty="0"/>
          </a:p>
          <a:p>
            <a:endParaRPr lang="en-NL" dirty="0"/>
          </a:p>
          <a:p>
            <a:endParaRPr lang="en-NL" dirty="0"/>
          </a:p>
          <a:p>
            <a:endParaRPr lang="en-NL" dirty="0"/>
          </a:p>
          <a:p>
            <a:pPr marL="0" indent="0">
              <a:buNone/>
            </a:pPr>
            <a:endParaRPr lang="en-NL" dirty="0"/>
          </a:p>
          <a:p>
            <a:pPr marL="0" indent="0">
              <a:buNone/>
            </a:pPr>
            <a:endParaRPr lang="en-NL" dirty="0"/>
          </a:p>
        </p:txBody>
      </p:sp>
      <p:pic>
        <p:nvPicPr>
          <p:cNvPr id="4" name="Picture 3" descr="A computer screen shot of a computer&#10;&#10;AI-generated content may be incorrect.">
            <a:extLst>
              <a:ext uri="{FF2B5EF4-FFF2-40B4-BE49-F238E27FC236}">
                <a16:creationId xmlns:a16="http://schemas.microsoft.com/office/drawing/2014/main" id="{04DC0DED-550F-544B-62D9-B5557522BD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7851" y="1320800"/>
            <a:ext cx="54991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2473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29CAA-ECAF-2F0B-0470-279F04D06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AC7C4-B4A6-60D6-1A52-82CB31489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8005"/>
            <a:ext cx="10515600" cy="1325563"/>
          </a:xfrm>
        </p:spPr>
        <p:txBody>
          <a:bodyPr/>
          <a:lstStyle/>
          <a:p>
            <a:r>
              <a:rPr lang="en-NL" dirty="0"/>
              <a:t>Barge visits</a:t>
            </a:r>
          </a:p>
        </p:txBody>
      </p:sp>
      <p:pic>
        <p:nvPicPr>
          <p:cNvPr id="10" name="Content Placeholder 4">
            <a:extLst>
              <a:ext uri="{FF2B5EF4-FFF2-40B4-BE49-F238E27FC236}">
                <a16:creationId xmlns:a16="http://schemas.microsoft.com/office/drawing/2014/main" id="{23C77090-FC38-FFC5-2A2B-24C7C2C4A1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7713" y="5202124"/>
            <a:ext cx="1949677" cy="1949677"/>
          </a:xfrm>
          <a:prstGeom prst="rect">
            <a:avLst/>
          </a:prstGeom>
        </p:spPr>
      </p:pic>
      <p:sp>
        <p:nvSpPr>
          <p:cNvPr id="6" name="Content Placeholder 8">
            <a:extLst>
              <a:ext uri="{FF2B5EF4-FFF2-40B4-BE49-F238E27FC236}">
                <a16:creationId xmlns:a16="http://schemas.microsoft.com/office/drawing/2014/main" id="{4E533A99-BE9C-CB38-2374-8E6BF86D5C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30266" y="1825625"/>
            <a:ext cx="2323534" cy="4351338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NL" dirty="0"/>
          </a:p>
          <a:p>
            <a:endParaRPr lang="en-NL" dirty="0"/>
          </a:p>
          <a:p>
            <a:endParaRPr lang="en-NL" dirty="0"/>
          </a:p>
          <a:p>
            <a:endParaRPr lang="en-NL" dirty="0"/>
          </a:p>
          <a:p>
            <a:pPr marL="0" indent="0">
              <a:buNone/>
            </a:pPr>
            <a:endParaRPr lang="en-NL" dirty="0"/>
          </a:p>
          <a:p>
            <a:pPr marL="0" indent="0">
              <a:buNone/>
            </a:pPr>
            <a:endParaRPr lang="en-NL" dirty="0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F9866B4-3E7A-80E2-5314-B8FE04C276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7942" y="1312008"/>
            <a:ext cx="9941020" cy="4223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7192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9B335-2DC8-D93A-6DD8-CAABBADF6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F82F7-5844-7937-1BD0-2D688DBD6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63712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NL" dirty="0"/>
              <a:t>Somehow we need to track which barge is meant to do what when at which location</a:t>
            </a:r>
            <a:br>
              <a:rPr lang="en-NL" dirty="0"/>
            </a:br>
            <a:r>
              <a:rPr lang="en-NL" sz="3100" i="1" dirty="0"/>
              <a:t>and keep track of what we still need to do</a:t>
            </a:r>
            <a:endParaRPr lang="en-NL" dirty="0"/>
          </a:p>
        </p:txBody>
      </p:sp>
      <p:pic>
        <p:nvPicPr>
          <p:cNvPr id="10" name="Content Placeholder 4">
            <a:extLst>
              <a:ext uri="{FF2B5EF4-FFF2-40B4-BE49-F238E27FC236}">
                <a16:creationId xmlns:a16="http://schemas.microsoft.com/office/drawing/2014/main" id="{892BB563-AAE4-2595-1AF1-07E96B081B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7713" y="5202124"/>
            <a:ext cx="1949677" cy="1949677"/>
          </a:xfrm>
          <a:prstGeom prst="rect">
            <a:avLst/>
          </a:prstGeom>
        </p:spPr>
      </p:pic>
      <p:sp>
        <p:nvSpPr>
          <p:cNvPr id="6" name="Content Placeholder 8">
            <a:extLst>
              <a:ext uri="{FF2B5EF4-FFF2-40B4-BE49-F238E27FC236}">
                <a16:creationId xmlns:a16="http://schemas.microsoft.com/office/drawing/2014/main" id="{F15AF0DC-CCD8-E966-68AB-9656FE80DD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30266" y="1825625"/>
            <a:ext cx="2323534" cy="4351338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NL" dirty="0"/>
          </a:p>
          <a:p>
            <a:endParaRPr lang="en-NL" dirty="0"/>
          </a:p>
          <a:p>
            <a:endParaRPr lang="en-NL" dirty="0"/>
          </a:p>
          <a:p>
            <a:endParaRPr lang="en-NL" dirty="0"/>
          </a:p>
          <a:p>
            <a:pPr marL="0" indent="0">
              <a:buNone/>
            </a:pPr>
            <a:endParaRPr lang="en-NL" dirty="0"/>
          </a:p>
          <a:p>
            <a:pPr marL="0" indent="0">
              <a:buNone/>
            </a:pP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2704356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7485B-F354-26C8-AF87-14FF018DB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4">
            <a:extLst>
              <a:ext uri="{FF2B5EF4-FFF2-40B4-BE49-F238E27FC236}">
                <a16:creationId xmlns:a16="http://schemas.microsoft.com/office/drawing/2014/main" id="{4C5BD405-35DF-1829-8167-612859C77E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7713" y="5202124"/>
            <a:ext cx="1949677" cy="1949677"/>
          </a:xfrm>
          <a:prstGeom prst="rect">
            <a:avLst/>
          </a:prstGeom>
        </p:spPr>
      </p:pic>
      <p:sp>
        <p:nvSpPr>
          <p:cNvPr id="6" name="Content Placeholder 8">
            <a:extLst>
              <a:ext uri="{FF2B5EF4-FFF2-40B4-BE49-F238E27FC236}">
                <a16:creationId xmlns:a16="http://schemas.microsoft.com/office/drawing/2014/main" id="{09691624-08B2-49DC-6A5B-869A10F9BB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30266" y="1825625"/>
            <a:ext cx="2323534" cy="4351338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NL" dirty="0"/>
          </a:p>
          <a:p>
            <a:endParaRPr lang="en-NL" dirty="0"/>
          </a:p>
          <a:p>
            <a:endParaRPr lang="en-NL" dirty="0"/>
          </a:p>
          <a:p>
            <a:endParaRPr lang="en-NL" dirty="0"/>
          </a:p>
          <a:p>
            <a:pPr marL="0" indent="0">
              <a:buNone/>
            </a:pPr>
            <a:endParaRPr lang="en-NL" dirty="0"/>
          </a:p>
          <a:p>
            <a:pPr marL="0" indent="0">
              <a:buNone/>
            </a:pPr>
            <a:endParaRPr lang="en-NL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02D5427-7E12-0730-0FA4-A264D8C53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Content Placeholder 2">
            <a:extLst>
              <a:ext uri="{FF2B5EF4-FFF2-40B4-BE49-F238E27FC236}">
                <a16:creationId xmlns:a16="http://schemas.microsoft.com/office/drawing/2014/main" id="{7E457D10-9494-1B46-4C92-2D5CA6583A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411888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0025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B7BE7-1B41-8412-260D-35AD7E3BA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What’s in that Excel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D8AEF2-25EB-E3A0-9635-B150C3266E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NL" dirty="0"/>
              <a:t>Barges</a:t>
            </a:r>
          </a:p>
          <a:p>
            <a:r>
              <a:rPr lang="en-NL" dirty="0"/>
              <a:t>Barge availability</a:t>
            </a:r>
          </a:p>
          <a:p>
            <a:r>
              <a:rPr lang="en-NL" dirty="0"/>
              <a:t>Terminals to visit</a:t>
            </a:r>
          </a:p>
          <a:p>
            <a:r>
              <a:rPr lang="en-NL" dirty="0"/>
              <a:t>Expected arrivals</a:t>
            </a:r>
          </a:p>
          <a:p>
            <a:r>
              <a:rPr lang="en-NL" dirty="0"/>
              <a:t>Number of containers to discharge</a:t>
            </a:r>
          </a:p>
          <a:p>
            <a:r>
              <a:rPr lang="en-NL" dirty="0"/>
              <a:t>Number of containers to load</a:t>
            </a:r>
          </a:p>
          <a:p>
            <a:r>
              <a:rPr lang="en-NL" dirty="0"/>
              <a:t>Whether load/discharge lists are OK or NOK</a:t>
            </a:r>
          </a:p>
          <a:p>
            <a:r>
              <a:rPr lang="en-NL" dirty="0"/>
              <a:t>Whether BICS + Manifest + Reefer list are send to the shipper</a:t>
            </a:r>
          </a:p>
          <a:p>
            <a:r>
              <a:rPr lang="en-NL" dirty="0"/>
              <a:t>Obstructions in the waterway</a:t>
            </a:r>
          </a:p>
          <a:p>
            <a:r>
              <a:rPr lang="en-NL" dirty="0"/>
              <a:t>Problems at terminals</a:t>
            </a:r>
          </a:p>
          <a:p>
            <a:endParaRPr lang="en-NL"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7C6855FA-AF37-69EC-A3AF-9CF3D3240E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7713" y="5202124"/>
            <a:ext cx="1949677" cy="1949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9431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9A023-24B4-3D01-DDEC-6B9DFBE11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721C3-014F-0019-BE8D-DDE345249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Problem 2: Planning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46948F-0547-323D-B99F-DC114F4974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NL" dirty="0"/>
              <a:t>Container based planning</a:t>
            </a:r>
          </a:p>
          <a:p>
            <a:pPr marL="514350" indent="-514350">
              <a:buAutoNum type="arabicPeriod"/>
            </a:pPr>
            <a:r>
              <a:rPr lang="en-NL" dirty="0"/>
              <a:t>Schedule based planning</a:t>
            </a:r>
          </a:p>
          <a:p>
            <a:pPr marL="514350" indent="-514350">
              <a:buAutoNum type="arabicPeriod"/>
            </a:pPr>
            <a:r>
              <a:rPr lang="en-NL" dirty="0"/>
              <a:t>Network planning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B32815D2-4626-6CE8-7159-136F883C39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7713" y="5202124"/>
            <a:ext cx="1949677" cy="1949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6165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1C2FB-9A08-EDCD-62A0-AE60CDF9D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081B2-5088-9756-394A-0C445DFEA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Incoming container list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B05F761-F46F-D938-A36B-69A1005885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486" y="1518805"/>
            <a:ext cx="10510580" cy="4433108"/>
          </a:xfrm>
          <a:prstGeom prst="rect">
            <a:avLst/>
          </a:prstGeom>
        </p:spPr>
      </p:pic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D6D9A2A7-77C3-5971-02F9-31145BF3AF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7713" y="5202124"/>
            <a:ext cx="1949677" cy="1949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5786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E644E-56C7-F775-A259-66981BC6D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EAACB-89CC-B4BD-1027-1C99FA6A9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Outgoing container list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2ED2E46-6131-4EA0-BF3C-C44C76A1CB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517765"/>
            <a:ext cx="10683240" cy="4371945"/>
          </a:xfrm>
          <a:prstGeom prst="rect">
            <a:avLst/>
          </a:prstGeom>
        </p:spPr>
      </p:pic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37C2323F-2BE7-7F58-5556-F0B9E7AC1A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7713" y="5202124"/>
            <a:ext cx="1949677" cy="1949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7454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3130E-FDBC-FD58-4EC7-047B2F310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But about terminal capacity?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4025E3F-F63C-9D33-3E43-7885C189F5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444" y="1624561"/>
            <a:ext cx="4272511" cy="4293662"/>
          </a:xfrm>
          <a:prstGeom prst="rect">
            <a:avLst/>
          </a:prstGeom>
        </p:spPr>
      </p:pic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FA43F2DA-0099-564A-088F-AEE1710A0D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7713" y="5202124"/>
            <a:ext cx="1949677" cy="1949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9665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D61F7-D996-0350-098E-C28D8B10A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1FFF8-05F3-0D41-7B8B-07FBA4F13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How to optimise capacity utilisation?</a:t>
            </a:r>
          </a:p>
        </p:txBody>
      </p:sp>
      <p:pic>
        <p:nvPicPr>
          <p:cNvPr id="8" name="Content Placeholder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4AADFBD-6DB3-90C7-FD1D-6EDBE5D835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52268" y="1538533"/>
            <a:ext cx="4757253" cy="4305314"/>
          </a:xfrm>
          <a:prstGeom prst="rect">
            <a:avLst/>
          </a:prstGeom>
        </p:spPr>
      </p:pic>
      <p:pic>
        <p:nvPicPr>
          <p:cNvPr id="9" name="Content Placeholder 4">
            <a:extLst>
              <a:ext uri="{FF2B5EF4-FFF2-40B4-BE49-F238E27FC236}">
                <a16:creationId xmlns:a16="http://schemas.microsoft.com/office/drawing/2014/main" id="{400909EF-319C-9704-C7C9-CC41D10B70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7713" y="5202124"/>
            <a:ext cx="1949677" cy="1949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5721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379C8-7E20-13AC-39F4-80CB814A1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6EEFE-FADD-7052-3134-9572A4EF9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6371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NL" dirty="0"/>
              <a:t>But what about transfers?</a:t>
            </a:r>
          </a:p>
        </p:txBody>
      </p:sp>
      <p:pic>
        <p:nvPicPr>
          <p:cNvPr id="10" name="Content Placeholder 4">
            <a:extLst>
              <a:ext uri="{FF2B5EF4-FFF2-40B4-BE49-F238E27FC236}">
                <a16:creationId xmlns:a16="http://schemas.microsoft.com/office/drawing/2014/main" id="{9D377E4A-B25B-B46D-13E4-9A63E7E0B4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7713" y="5202124"/>
            <a:ext cx="1949677" cy="1949677"/>
          </a:xfrm>
          <a:prstGeom prst="rect">
            <a:avLst/>
          </a:prstGeom>
        </p:spPr>
      </p:pic>
      <p:sp>
        <p:nvSpPr>
          <p:cNvPr id="6" name="Content Placeholder 8">
            <a:extLst>
              <a:ext uri="{FF2B5EF4-FFF2-40B4-BE49-F238E27FC236}">
                <a16:creationId xmlns:a16="http://schemas.microsoft.com/office/drawing/2014/main" id="{F2D4A0EB-436B-661E-BA9C-E132570125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30266" y="1825625"/>
            <a:ext cx="2323534" cy="4351338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NL" dirty="0"/>
          </a:p>
          <a:p>
            <a:endParaRPr lang="en-NL" dirty="0"/>
          </a:p>
          <a:p>
            <a:endParaRPr lang="en-NL" dirty="0"/>
          </a:p>
          <a:p>
            <a:endParaRPr lang="en-NL" dirty="0"/>
          </a:p>
          <a:p>
            <a:pPr marL="0" indent="0">
              <a:buNone/>
            </a:pPr>
            <a:endParaRPr lang="en-NL" dirty="0"/>
          </a:p>
          <a:p>
            <a:pPr marL="0" indent="0">
              <a:buNone/>
            </a:pPr>
            <a:endParaRPr lang="en-NL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2B2DBE8-240B-C132-D333-6A59E61913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4263736"/>
              </p:ext>
            </p:extLst>
          </p:nvPr>
        </p:nvGraphicFramePr>
        <p:xfrm>
          <a:off x="1536469" y="4058648"/>
          <a:ext cx="9603833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1815">
                  <a:extLst>
                    <a:ext uri="{9D8B030D-6E8A-4147-A177-3AD203B41FA5}">
                      <a16:colId xmlns:a16="http://schemas.microsoft.com/office/drawing/2014/main" val="640643895"/>
                    </a:ext>
                  </a:extLst>
                </a:gridCol>
                <a:gridCol w="1297003">
                  <a:extLst>
                    <a:ext uri="{9D8B030D-6E8A-4147-A177-3AD203B41FA5}">
                      <a16:colId xmlns:a16="http://schemas.microsoft.com/office/drawing/2014/main" val="1631354038"/>
                    </a:ext>
                  </a:extLst>
                </a:gridCol>
                <a:gridCol w="1297003">
                  <a:extLst>
                    <a:ext uri="{9D8B030D-6E8A-4147-A177-3AD203B41FA5}">
                      <a16:colId xmlns:a16="http://schemas.microsoft.com/office/drawing/2014/main" val="2060859508"/>
                    </a:ext>
                  </a:extLst>
                </a:gridCol>
                <a:gridCol w="1297003">
                  <a:extLst>
                    <a:ext uri="{9D8B030D-6E8A-4147-A177-3AD203B41FA5}">
                      <a16:colId xmlns:a16="http://schemas.microsoft.com/office/drawing/2014/main" val="4079543882"/>
                    </a:ext>
                  </a:extLst>
                </a:gridCol>
                <a:gridCol w="1297003">
                  <a:extLst>
                    <a:ext uri="{9D8B030D-6E8A-4147-A177-3AD203B41FA5}">
                      <a16:colId xmlns:a16="http://schemas.microsoft.com/office/drawing/2014/main" val="173217216"/>
                    </a:ext>
                  </a:extLst>
                </a:gridCol>
                <a:gridCol w="1297003">
                  <a:extLst>
                    <a:ext uri="{9D8B030D-6E8A-4147-A177-3AD203B41FA5}">
                      <a16:colId xmlns:a16="http://schemas.microsoft.com/office/drawing/2014/main" val="440301946"/>
                    </a:ext>
                  </a:extLst>
                </a:gridCol>
                <a:gridCol w="1297003">
                  <a:extLst>
                    <a:ext uri="{9D8B030D-6E8A-4147-A177-3AD203B41FA5}">
                      <a16:colId xmlns:a16="http://schemas.microsoft.com/office/drawing/2014/main" val="15588267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NL" b="1" dirty="0"/>
                        <a:t>Incoming voyage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L" dirty="0"/>
                        <a:t>RTM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L" dirty="0"/>
                        <a:t>TIEL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L" dirty="0"/>
                        <a:t>KAT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L" dirty="0"/>
                        <a:t>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37217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NL" b="1" dirty="0"/>
                        <a:t>Outgoing voyage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L" dirty="0"/>
                        <a:t>KAT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L" dirty="0"/>
                        <a:t>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L" dirty="0"/>
                        <a:t>TIEL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L" dirty="0"/>
                        <a:t>RTM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7974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47277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FD3EA-43BF-CCEB-0CE5-B56E352D3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4">
            <a:extLst>
              <a:ext uri="{FF2B5EF4-FFF2-40B4-BE49-F238E27FC236}">
                <a16:creationId xmlns:a16="http://schemas.microsoft.com/office/drawing/2014/main" id="{41B35E59-08E8-A24C-403F-AD7A99BA90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7713" y="5202124"/>
            <a:ext cx="1949677" cy="194967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E1171B7-691F-5409-74F6-140B2AB9A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TIEL serving as a hub</a:t>
            </a:r>
          </a:p>
        </p:txBody>
      </p:sp>
      <p:pic>
        <p:nvPicPr>
          <p:cNvPr id="7" name="Content Placeholder 6" descr="A green and grey line with white text&#10;&#10;AI-generated content may be incorrect.">
            <a:extLst>
              <a:ext uri="{FF2B5EF4-FFF2-40B4-BE49-F238E27FC236}">
                <a16:creationId xmlns:a16="http://schemas.microsoft.com/office/drawing/2014/main" id="{CE6512CA-77D7-E136-E819-CC3C249C33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838200" y="1592352"/>
            <a:ext cx="9896555" cy="3943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7188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668A5-1363-9ADF-F692-AB020A71B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06EEF-3EF4-007B-1489-508083D1E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6371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NL" dirty="0"/>
              <a:t>Remember this?</a:t>
            </a:r>
          </a:p>
        </p:txBody>
      </p:sp>
      <p:pic>
        <p:nvPicPr>
          <p:cNvPr id="10" name="Content Placeholder 4">
            <a:extLst>
              <a:ext uri="{FF2B5EF4-FFF2-40B4-BE49-F238E27FC236}">
                <a16:creationId xmlns:a16="http://schemas.microsoft.com/office/drawing/2014/main" id="{57DF08C3-BD04-C163-8A2B-7C3F0B1457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7713" y="5202124"/>
            <a:ext cx="1949677" cy="1949677"/>
          </a:xfrm>
          <a:prstGeom prst="rect">
            <a:avLst/>
          </a:prstGeom>
        </p:spPr>
      </p:pic>
      <p:sp>
        <p:nvSpPr>
          <p:cNvPr id="6" name="Content Placeholder 8">
            <a:extLst>
              <a:ext uri="{FF2B5EF4-FFF2-40B4-BE49-F238E27FC236}">
                <a16:creationId xmlns:a16="http://schemas.microsoft.com/office/drawing/2014/main" id="{3A622722-F351-16AA-0BA6-70819E018D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30266" y="1825625"/>
            <a:ext cx="2323534" cy="4351338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NL" dirty="0"/>
          </a:p>
          <a:p>
            <a:endParaRPr lang="en-NL" dirty="0"/>
          </a:p>
          <a:p>
            <a:endParaRPr lang="en-NL" dirty="0"/>
          </a:p>
          <a:p>
            <a:endParaRPr lang="en-NL" dirty="0"/>
          </a:p>
          <a:p>
            <a:pPr marL="0" indent="0">
              <a:buNone/>
            </a:pPr>
            <a:endParaRPr lang="en-NL" dirty="0"/>
          </a:p>
          <a:p>
            <a:pPr marL="0" indent="0">
              <a:buNone/>
            </a:pPr>
            <a:endParaRPr lang="en-NL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C9D8D71-4C86-D195-BBBB-B43BF740F9E9}"/>
              </a:ext>
            </a:extLst>
          </p:cNvPr>
          <p:cNvGraphicFramePr>
            <a:graphicFrameLocks noGrp="1"/>
          </p:cNvGraphicFramePr>
          <p:nvPr/>
        </p:nvGraphicFramePr>
        <p:xfrm>
          <a:off x="1536469" y="4058648"/>
          <a:ext cx="9603833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1815">
                  <a:extLst>
                    <a:ext uri="{9D8B030D-6E8A-4147-A177-3AD203B41FA5}">
                      <a16:colId xmlns:a16="http://schemas.microsoft.com/office/drawing/2014/main" val="640643895"/>
                    </a:ext>
                  </a:extLst>
                </a:gridCol>
                <a:gridCol w="1297003">
                  <a:extLst>
                    <a:ext uri="{9D8B030D-6E8A-4147-A177-3AD203B41FA5}">
                      <a16:colId xmlns:a16="http://schemas.microsoft.com/office/drawing/2014/main" val="1631354038"/>
                    </a:ext>
                  </a:extLst>
                </a:gridCol>
                <a:gridCol w="1297003">
                  <a:extLst>
                    <a:ext uri="{9D8B030D-6E8A-4147-A177-3AD203B41FA5}">
                      <a16:colId xmlns:a16="http://schemas.microsoft.com/office/drawing/2014/main" val="2060859508"/>
                    </a:ext>
                  </a:extLst>
                </a:gridCol>
                <a:gridCol w="1297003">
                  <a:extLst>
                    <a:ext uri="{9D8B030D-6E8A-4147-A177-3AD203B41FA5}">
                      <a16:colId xmlns:a16="http://schemas.microsoft.com/office/drawing/2014/main" val="4079543882"/>
                    </a:ext>
                  </a:extLst>
                </a:gridCol>
                <a:gridCol w="1297003">
                  <a:extLst>
                    <a:ext uri="{9D8B030D-6E8A-4147-A177-3AD203B41FA5}">
                      <a16:colId xmlns:a16="http://schemas.microsoft.com/office/drawing/2014/main" val="173217216"/>
                    </a:ext>
                  </a:extLst>
                </a:gridCol>
                <a:gridCol w="1297003">
                  <a:extLst>
                    <a:ext uri="{9D8B030D-6E8A-4147-A177-3AD203B41FA5}">
                      <a16:colId xmlns:a16="http://schemas.microsoft.com/office/drawing/2014/main" val="440301946"/>
                    </a:ext>
                  </a:extLst>
                </a:gridCol>
                <a:gridCol w="1297003">
                  <a:extLst>
                    <a:ext uri="{9D8B030D-6E8A-4147-A177-3AD203B41FA5}">
                      <a16:colId xmlns:a16="http://schemas.microsoft.com/office/drawing/2014/main" val="15588267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NL" b="1" dirty="0"/>
                        <a:t>Incoming voyage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L" dirty="0"/>
                        <a:t>RTM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L" dirty="0"/>
                        <a:t>TIEL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L" dirty="0"/>
                        <a:t>KAT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L" dirty="0"/>
                        <a:t>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37217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NL" b="1" dirty="0"/>
                        <a:t>Outgoing voyage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L" dirty="0"/>
                        <a:t>KAT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L" dirty="0"/>
                        <a:t>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L" dirty="0"/>
                        <a:t>TIEL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L" dirty="0"/>
                        <a:t>RTM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7974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45323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86B90-070B-5680-D5C4-8939AE43F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93EFE-E62A-9ECC-B805-481E44E0F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6371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NL" dirty="0"/>
              <a:t>Solution</a:t>
            </a:r>
            <a:br>
              <a:rPr lang="en-NL" dirty="0"/>
            </a:br>
            <a:r>
              <a:rPr lang="en-NL" sz="2400" dirty="0"/>
              <a:t>Fake trucks…</a:t>
            </a:r>
            <a:endParaRPr lang="en-NL" dirty="0"/>
          </a:p>
        </p:txBody>
      </p:sp>
      <p:pic>
        <p:nvPicPr>
          <p:cNvPr id="10" name="Content Placeholder 4">
            <a:extLst>
              <a:ext uri="{FF2B5EF4-FFF2-40B4-BE49-F238E27FC236}">
                <a16:creationId xmlns:a16="http://schemas.microsoft.com/office/drawing/2014/main" id="{2E61ABEA-13C3-FA6A-A54C-F2114BED9B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7713" y="5202124"/>
            <a:ext cx="1949677" cy="1949677"/>
          </a:xfrm>
          <a:prstGeom prst="rect">
            <a:avLst/>
          </a:prstGeom>
        </p:spPr>
      </p:pic>
      <p:sp>
        <p:nvSpPr>
          <p:cNvPr id="6" name="Content Placeholder 8">
            <a:extLst>
              <a:ext uri="{FF2B5EF4-FFF2-40B4-BE49-F238E27FC236}">
                <a16:creationId xmlns:a16="http://schemas.microsoft.com/office/drawing/2014/main" id="{6E35107C-CD72-B139-5C3F-D70D5520BC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30266" y="1825625"/>
            <a:ext cx="2323534" cy="4351338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NL" dirty="0"/>
          </a:p>
          <a:p>
            <a:endParaRPr lang="en-NL" dirty="0"/>
          </a:p>
          <a:p>
            <a:endParaRPr lang="en-NL" dirty="0"/>
          </a:p>
          <a:p>
            <a:endParaRPr lang="en-NL" dirty="0"/>
          </a:p>
          <a:p>
            <a:pPr marL="0" indent="0">
              <a:buNone/>
            </a:pPr>
            <a:endParaRPr lang="en-NL" dirty="0"/>
          </a:p>
          <a:p>
            <a:pPr marL="0" indent="0">
              <a:buNone/>
            </a:pPr>
            <a:endParaRPr lang="en-NL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D55DD82-8B03-48F1-DEB9-2FAF4BCC376F}"/>
              </a:ext>
            </a:extLst>
          </p:cNvPr>
          <p:cNvGraphicFramePr>
            <a:graphicFrameLocks noGrp="1"/>
          </p:cNvGraphicFramePr>
          <p:nvPr/>
        </p:nvGraphicFramePr>
        <p:xfrm>
          <a:off x="1536469" y="4058648"/>
          <a:ext cx="9603833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1815">
                  <a:extLst>
                    <a:ext uri="{9D8B030D-6E8A-4147-A177-3AD203B41FA5}">
                      <a16:colId xmlns:a16="http://schemas.microsoft.com/office/drawing/2014/main" val="640643895"/>
                    </a:ext>
                  </a:extLst>
                </a:gridCol>
                <a:gridCol w="1297003">
                  <a:extLst>
                    <a:ext uri="{9D8B030D-6E8A-4147-A177-3AD203B41FA5}">
                      <a16:colId xmlns:a16="http://schemas.microsoft.com/office/drawing/2014/main" val="1631354038"/>
                    </a:ext>
                  </a:extLst>
                </a:gridCol>
                <a:gridCol w="1297003">
                  <a:extLst>
                    <a:ext uri="{9D8B030D-6E8A-4147-A177-3AD203B41FA5}">
                      <a16:colId xmlns:a16="http://schemas.microsoft.com/office/drawing/2014/main" val="2060859508"/>
                    </a:ext>
                  </a:extLst>
                </a:gridCol>
                <a:gridCol w="1297003">
                  <a:extLst>
                    <a:ext uri="{9D8B030D-6E8A-4147-A177-3AD203B41FA5}">
                      <a16:colId xmlns:a16="http://schemas.microsoft.com/office/drawing/2014/main" val="4079543882"/>
                    </a:ext>
                  </a:extLst>
                </a:gridCol>
                <a:gridCol w="1297003">
                  <a:extLst>
                    <a:ext uri="{9D8B030D-6E8A-4147-A177-3AD203B41FA5}">
                      <a16:colId xmlns:a16="http://schemas.microsoft.com/office/drawing/2014/main" val="173217216"/>
                    </a:ext>
                  </a:extLst>
                </a:gridCol>
                <a:gridCol w="1297003">
                  <a:extLst>
                    <a:ext uri="{9D8B030D-6E8A-4147-A177-3AD203B41FA5}">
                      <a16:colId xmlns:a16="http://schemas.microsoft.com/office/drawing/2014/main" val="440301946"/>
                    </a:ext>
                  </a:extLst>
                </a:gridCol>
                <a:gridCol w="1297003">
                  <a:extLst>
                    <a:ext uri="{9D8B030D-6E8A-4147-A177-3AD203B41FA5}">
                      <a16:colId xmlns:a16="http://schemas.microsoft.com/office/drawing/2014/main" val="15588267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NL" b="1" dirty="0"/>
                        <a:t>Incoming voyage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L" dirty="0"/>
                        <a:t>RTM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L" dirty="0"/>
                        <a:t>TIEL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L" dirty="0"/>
                        <a:t>KAT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L" dirty="0"/>
                        <a:t>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37217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NL" b="1" dirty="0"/>
                        <a:t>Outgoing voyage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L" dirty="0"/>
                        <a:t>KAT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L" dirty="0"/>
                        <a:t>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L" dirty="0"/>
                        <a:t>TIEL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L" dirty="0"/>
                        <a:t>RTM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7974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20435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3B237-4B31-9EAE-AB7F-964C0FEB6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And then the world changes…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FCEB1-A73E-A71F-857C-E1F4979DBB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L" dirty="0"/>
              <a:t>NextLogic is in charge of slot times</a:t>
            </a:r>
          </a:p>
          <a:p>
            <a:r>
              <a:rPr lang="en-NL" dirty="0"/>
              <a:t>Ocean liners may arrive early or late</a:t>
            </a:r>
          </a:p>
          <a:p>
            <a:r>
              <a:rPr lang="en-NL" dirty="0"/>
              <a:t>Bad weather causes terminals to close</a:t>
            </a:r>
          </a:p>
          <a:p>
            <a:r>
              <a:rPr lang="en-NL" dirty="0"/>
              <a:t>Waterway obstructions</a:t>
            </a:r>
          </a:p>
          <a:p>
            <a:r>
              <a:rPr lang="en-NL" dirty="0"/>
              <a:t>Problems at terminals</a:t>
            </a:r>
          </a:p>
          <a:p>
            <a:r>
              <a:rPr lang="en-NL" dirty="0"/>
              <a:t>Changes in delivery times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1F2DF9A3-C607-FB37-6F08-B051EA2276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7713" y="5202124"/>
            <a:ext cx="1949677" cy="1949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4943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C63BE-6BDA-6689-4790-1E7FC7A5F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Your assignment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91B81B-B8A9-4307-DAFA-95028EA57C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NL" dirty="0"/>
              <a:t>1. Help planners understand the status of their network</a:t>
            </a:r>
          </a:p>
          <a:p>
            <a:pPr marL="0" indent="0">
              <a:buNone/>
            </a:pPr>
            <a:r>
              <a:rPr lang="en-NL" dirty="0"/>
              <a:t>2. Help planners </a:t>
            </a:r>
            <a:r>
              <a:rPr lang="en-NL"/>
              <a:t>to identify </a:t>
            </a:r>
            <a:r>
              <a:rPr lang="en-NL" dirty="0"/>
              <a:t>where intervention is needed</a:t>
            </a:r>
          </a:p>
          <a:p>
            <a:pPr marL="0" indent="0">
              <a:buNone/>
            </a:pPr>
            <a:r>
              <a:rPr lang="en-NL" dirty="0"/>
              <a:t>3. Help planners deal with change</a:t>
            </a:r>
          </a:p>
          <a:p>
            <a:pPr marL="0" indent="0">
              <a:buNone/>
            </a:pPr>
            <a:endParaRPr lang="en-NL" i="1" dirty="0"/>
          </a:p>
          <a:p>
            <a:pPr marL="0" indent="0">
              <a:buNone/>
            </a:pPr>
            <a:r>
              <a:rPr lang="en-NL" dirty="0"/>
              <a:t>(4. Help planners plan and optimise their planning)</a:t>
            </a:r>
          </a:p>
          <a:p>
            <a:pPr marL="0" indent="0">
              <a:buNone/>
            </a:pPr>
            <a:r>
              <a:rPr lang="en-NL" dirty="0"/>
              <a:t>(5. Propose what to do next)</a:t>
            </a:r>
          </a:p>
          <a:p>
            <a:pPr marL="0" indent="0">
              <a:buNone/>
            </a:pPr>
            <a:r>
              <a:rPr lang="en-NL" dirty="0"/>
              <a:t>(6. Demonstrate robustness to change)</a:t>
            </a:r>
          </a:p>
          <a:p>
            <a:pPr marL="0" indent="0">
              <a:buNone/>
            </a:pPr>
            <a:endParaRPr lang="en-NL" dirty="0"/>
          </a:p>
          <a:p>
            <a:endParaRPr lang="en-NL"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C87E4705-7059-E3CF-7DDC-D2611BE1C3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7713" y="5202124"/>
            <a:ext cx="1949677" cy="1949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2118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5185</TotalTime>
  <Words>664</Words>
  <Application>Microsoft Office PowerPoint</Application>
  <PresentationFormat>Widescreen</PresentationFormat>
  <Paragraphs>218</Paragraphs>
  <Slides>26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Aptos</vt:lpstr>
      <vt:lpstr>Arial</vt:lpstr>
      <vt:lpstr>Calibri</vt:lpstr>
      <vt:lpstr>Calibri Light</vt:lpstr>
      <vt:lpstr>Tw Cen MT</vt:lpstr>
      <vt:lpstr>Office Theme</vt:lpstr>
      <vt:lpstr>Squid Software Systems</vt:lpstr>
      <vt:lpstr>PowerPoint Presentation</vt:lpstr>
      <vt:lpstr>Inland container logistics</vt:lpstr>
      <vt:lpstr>Inland container logistics</vt:lpstr>
      <vt:lpstr>Planning puzzle</vt:lpstr>
      <vt:lpstr>What’s a good planning?</vt:lpstr>
      <vt:lpstr>Network of Van Berkel Logistics</vt:lpstr>
      <vt:lpstr>What’s our problem?</vt:lpstr>
      <vt:lpstr>Terminology</vt:lpstr>
      <vt:lpstr>Voyage list</vt:lpstr>
      <vt:lpstr>Voyage element list</vt:lpstr>
      <vt:lpstr>Barge visits</vt:lpstr>
      <vt:lpstr>Somehow we need to track which barge is meant to do what when at which location and keep track of what we still need to do</vt:lpstr>
      <vt:lpstr>PowerPoint Presentation</vt:lpstr>
      <vt:lpstr>What’s in that Excel</vt:lpstr>
      <vt:lpstr>Problem 2: Planning</vt:lpstr>
      <vt:lpstr>Incoming container list</vt:lpstr>
      <vt:lpstr>Outgoing container list</vt:lpstr>
      <vt:lpstr>But about terminal capacity?</vt:lpstr>
      <vt:lpstr>How to optimise capacity utilisation?</vt:lpstr>
      <vt:lpstr>But what about transfers?</vt:lpstr>
      <vt:lpstr>TIEL serving as a hub</vt:lpstr>
      <vt:lpstr>Remember this?</vt:lpstr>
      <vt:lpstr>Solution Fake trucks…</vt:lpstr>
      <vt:lpstr>And then the world changes…</vt:lpstr>
      <vt:lpstr>Your assignment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Squid</dc:title>
  <dc:creator>Ommeren, C.R. (Christian) van</dc:creator>
  <cp:lastModifiedBy>Ervin Macić</cp:lastModifiedBy>
  <cp:revision>17</cp:revision>
  <dcterms:created xsi:type="dcterms:W3CDTF">2021-12-09T11:23:02Z</dcterms:created>
  <dcterms:modified xsi:type="dcterms:W3CDTF">2026-02-22T14:01:13Z</dcterms:modified>
</cp:coreProperties>
</file>